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37160"/>
            <a:ext cx="11825935" cy="658368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14400"/>
            <a:ext cx="91440" cy="475488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43000"/>
            <a:ext cx="10058400" cy="182880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4400" b="1">
                <a:solidFill>
                  <a:srgbClr val="FFFFFF"/>
                </a:solidFill>
              </a:rPr>
              <a:t>Customer Segmentation</a:t>
            </a:r>
          </a:p>
          <a:p>
            <a:r>
              <a:rPr sz="3400">
                <a:solidFill>
                  <a:srgbClr val="1A8984"/>
                </a:solidFill>
              </a:rPr>
              <a:t>Using K-Means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246120"/>
            <a:ext cx="9144000" cy="91440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2000">
                <a:solidFill>
                  <a:srgbClr val="DCE1E7"/>
                </a:solidFill>
              </a:rPr>
              <a:t>Understanding customer behavior through income and spending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892040"/>
            <a:ext cx="7315200" cy="45720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600" b="1">
                <a:solidFill>
                  <a:srgbClr val="FFFFFF"/>
                </a:solidFill>
              </a:rPr>
              <a:t>Presented by Mary Nishita Vatti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413248"/>
            <a:ext cx="8229600" cy="32004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200">
                <a:solidFill>
                  <a:srgbClr val="B4BEC9"/>
                </a:solidFill>
              </a:rPr>
              <a:t>Machine Learning Project  •  Python  • 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37160"/>
            <a:ext cx="11825935" cy="65836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11825935" cy="9144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2800" b="1">
                <a:solidFill>
                  <a:srgbClr val="182230"/>
                </a:solidFill>
                <a:latin typeface="Aptos Display"/>
              </a:rPr>
              <a:t>Why Customer Segmentation?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9536"/>
            <a:ext cx="10789920" cy="36576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200">
                <a:solidFill>
                  <a:srgbClr val="69737E"/>
                </a:solidFill>
              </a:rPr>
              <a:t>The business problem behind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192024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3017520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800" b="1">
                <a:solidFill>
                  <a:srgbClr val="182230"/>
                </a:solidFill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3017520" cy="1115568"/>
          </a:xfrm>
          <a:prstGeom prst="rect">
            <a:avLst/>
          </a:prstGeom>
          <a:noFill/>
        </p:spPr>
        <p:txBody>
          <a:bodyPr wrap="square" tIns="54864" bIns="54864"/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A323C"/>
                </a:solidFill>
              </a:rPr>
              <a:t>Customers do not all behave in the same way.
A single marketing strategy may not work equally well for everyone.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64008" cy="1920240"/>
          </a:xfrm>
          <a:prstGeom prst="rect">
            <a:avLst/>
          </a:prstGeom>
          <a:solidFill>
            <a:srgbClr val="CD9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81912"/>
            <a:ext cx="3017520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800" b="1">
                <a:solidFill>
                  <a:srgbClr val="182230"/>
                </a:solidFill>
              </a:rPr>
              <a:t>THE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75688"/>
            <a:ext cx="3017520" cy="1115568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400">
                <a:solidFill>
                  <a:srgbClr val="2A323C"/>
                </a:solidFill>
              </a:rPr>
              <a:t>Group customers with similar income–spending patterns into meaningful segments.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64008" cy="1920240"/>
          </a:xfrm>
          <a:prstGeom prst="rect">
            <a:avLst/>
          </a:prstGeom>
          <a:solidFill>
            <a:srgbClr val="4B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81912"/>
            <a:ext cx="3017520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800" b="1">
                <a:solidFill>
                  <a:srgbClr val="182230"/>
                </a:solidFill>
              </a:rPr>
              <a:t>THE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75688"/>
            <a:ext cx="3017520" cy="1115568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400">
                <a:solidFill>
                  <a:srgbClr val="2A323C"/>
                </a:solidFill>
              </a:rPr>
              <a:t>Use each segment to design more relevant marketing and engagement strategies.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10241280" cy="173736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>
              <a:spcAft>
                <a:spcPts val="1000"/>
              </a:spcAft>
              <a:defRPr sz="1900">
                <a:solidFill>
                  <a:srgbClr val="2A323C"/>
                </a:solidFill>
              </a:defRPr>
            </a:pPr>
            <a:r>
              <a:rPr/>
              <a:t>• Segment customers into meaningful groups</a:t>
            </a:r>
          </a:p>
          <a:p>
            <a:pPr>
              <a:spcAft>
                <a:spcPts val="1000"/>
              </a:spcAft>
              <a:defRPr sz="1900">
                <a:solidFill>
                  <a:srgbClr val="2A323C"/>
                </a:solidFill>
              </a:defRPr>
            </a:pPr>
            <a:r>
              <a:rPr/>
              <a:t>• Identify customer behavior patterns</a:t>
            </a:r>
          </a:p>
          <a:p>
            <a:pPr>
              <a:spcAft>
                <a:spcPts val="1000"/>
              </a:spcAft>
              <a:defRPr sz="1900">
                <a:solidFill>
                  <a:srgbClr val="2A323C"/>
                </a:solidFill>
              </a:defRPr>
            </a:pPr>
            <a:r>
              <a:rPr/>
              <a:t>• Turn clusters into actionable business insights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E8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r"/>
            <a:r>
              <a:rPr sz="900">
                <a:solidFill>
                  <a:srgbClr val="69737E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37160"/>
            <a:ext cx="11825935" cy="65836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11825935" cy="9144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2800" b="1">
                <a:solidFill>
                  <a:srgbClr val="182230"/>
                </a:solidFill>
                <a:latin typeface="Aptos Display"/>
              </a:rPr>
              <a:t>Dataset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9536"/>
            <a:ext cx="10789920" cy="36576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200">
                <a:solidFill>
                  <a:srgbClr val="69737E"/>
                </a:solidFill>
              </a:rPr>
              <a:t>Mall Customers dataset used for the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39"/>
            <a:ext cx="2240280" cy="5029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ctr"/>
            <a:r>
              <a:rPr sz="2800" b="1">
                <a:solidFill>
                  <a:srgbClr val="1A8984"/>
                </a:solidFill>
              </a:rPr>
              <a:t>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39112"/>
            <a:ext cx="2240280" cy="2743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ctr"/>
            <a:r>
              <a:rPr sz="1100">
                <a:solidFill>
                  <a:srgbClr val="69737E"/>
                </a:solidFill>
              </a:rPr>
              <a:t>Customer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463039"/>
            <a:ext cx="2240280" cy="5029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ctr"/>
            <a:r>
              <a:rPr sz="2800" b="1">
                <a:solidFill>
                  <a:srgbClr val="CD9D4A"/>
                </a:solidFill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039112"/>
            <a:ext cx="2240280" cy="2743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ctr"/>
            <a:r>
              <a:rPr sz="1100">
                <a:solidFill>
                  <a:srgbClr val="69737E"/>
                </a:solidFill>
              </a:rPr>
              <a:t>Original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2588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39"/>
            <a:ext cx="2240280" cy="5029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ctr"/>
            <a:r>
              <a:rPr sz="2800" b="1">
                <a:solidFill>
                  <a:srgbClr val="1A8984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39112"/>
            <a:ext cx="2240280" cy="2743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ctr"/>
            <a:r>
              <a:rPr sz="1100">
                <a:solidFill>
                  <a:srgbClr val="69737E"/>
                </a:solidFill>
              </a:rPr>
              <a:t>Missing values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32588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1463039"/>
            <a:ext cx="2240280" cy="5029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ctr"/>
            <a:r>
              <a:rPr sz="2800" b="1">
                <a:solidFill>
                  <a:srgbClr val="4B70A6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039112"/>
            <a:ext cx="2240280" cy="2743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ctr"/>
            <a:r>
              <a:rPr sz="1100">
                <a:solidFill>
                  <a:srgbClr val="69737E"/>
                </a:solidFill>
              </a:rPr>
              <a:t>Clustering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6324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063240"/>
            <a:ext cx="64008" cy="233172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27832"/>
            <a:ext cx="4800600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 b="1">
                <a:solidFill>
                  <a:srgbClr val="182230"/>
                </a:solidFill>
              </a:rPr>
              <a:t>ORIGINAL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21608"/>
            <a:ext cx="4800600" cy="1527048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400">
                <a:solidFill>
                  <a:srgbClr val="2A323C"/>
                </a:solidFill>
              </a:rPr>
              <a:t>CustomerID
Gender
Age
Annual Income (k$)
Spending Score (1–100)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06324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063240"/>
            <a:ext cx="64008" cy="2331720"/>
          </a:xfrm>
          <a:prstGeom prst="rect">
            <a:avLst/>
          </a:prstGeom>
          <a:solidFill>
            <a:srgbClr val="4B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227832"/>
            <a:ext cx="4800600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 b="1">
                <a:solidFill>
                  <a:srgbClr val="182230"/>
                </a:solidFill>
              </a:rPr>
              <a:t>FEATURES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21608"/>
            <a:ext cx="4800600" cy="1527048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400">
                <a:solidFill>
                  <a:srgbClr val="2A323C"/>
                </a:solidFill>
              </a:rPr>
              <a:t>Annual Income (k$)
Spending Score (1–100)
These represent purchasing capacity and spending behavior.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E8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r"/>
            <a:r>
              <a:rPr sz="900">
                <a:solidFill>
                  <a:srgbClr val="69737E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37160"/>
            <a:ext cx="11825935" cy="65836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11825935" cy="9144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2800" b="1">
                <a:solidFill>
                  <a:srgbClr val="182230"/>
                </a:solidFill>
                <a:latin typeface="Aptos Display"/>
              </a:rPr>
              <a:t>From Raw Data to Model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9536"/>
            <a:ext cx="10789920" cy="36576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200">
                <a:solidFill>
                  <a:srgbClr val="69737E"/>
                </a:solidFill>
              </a:rPr>
              <a:t>Simple preparation before clustering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4231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02920" cy="22860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39112"/>
            <a:ext cx="1417320" cy="36576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 b="1">
                <a:solidFill>
                  <a:srgbClr val="182230"/>
                </a:solidFill>
              </a:rP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1965960" cy="114300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300">
                <a:solidFill>
                  <a:srgbClr val="2A323C"/>
                </a:solidFill>
              </a:rPr>
              <a:t>Read the dataset using Pandas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4231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2057400"/>
            <a:ext cx="502920" cy="502920"/>
          </a:xfrm>
          <a:prstGeom prst="ellipse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148840"/>
            <a:ext cx="502920" cy="22860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039112"/>
            <a:ext cx="1417320" cy="36576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 b="1">
                <a:solidFill>
                  <a:srgbClr val="182230"/>
                </a:solidFill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743200"/>
            <a:ext cx="1965960" cy="114300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300">
                <a:solidFill>
                  <a:srgbClr val="2A323C"/>
                </a:solidFill>
              </a:rPr>
              <a:t>Inspect structure, data types and missing values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28800"/>
            <a:ext cx="24231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2057400"/>
            <a:ext cx="502920" cy="502920"/>
          </a:xfrm>
          <a:prstGeom prst="ellipse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148840"/>
            <a:ext cx="502920" cy="22860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039112"/>
            <a:ext cx="1417320" cy="36576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 b="1">
                <a:solidFill>
                  <a:srgbClr val="182230"/>
                </a:solidFill>
              </a:rPr>
              <a:t>Select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43200"/>
            <a:ext cx="1965960" cy="114300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300">
                <a:solidFill>
                  <a:srgbClr val="2A323C"/>
                </a:solidFill>
              </a:rPr>
              <a:t>Choose Annual Income + Spending 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1828800"/>
            <a:ext cx="24231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35439" y="2057400"/>
            <a:ext cx="502920" cy="502920"/>
          </a:xfrm>
          <a:prstGeom prst="ellipse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39" y="2148840"/>
            <a:ext cx="502920" cy="22860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19" y="2039112"/>
            <a:ext cx="1417320" cy="36576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 b="1">
                <a:solidFill>
                  <a:srgbClr val="182230"/>
                </a:solidFill>
              </a:rPr>
              <a:t>Cluster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2743200"/>
            <a:ext cx="1965960" cy="114300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300">
                <a:solidFill>
                  <a:srgbClr val="2A323C"/>
                </a:solidFill>
              </a:rPr>
              <a:t>Use the two features as model input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709160"/>
            <a:ext cx="10058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5840" y="4709160"/>
            <a:ext cx="64008" cy="77724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956048"/>
            <a:ext cx="10058400" cy="566928"/>
          </a:xfrm>
          <a:prstGeom prst="rect">
            <a:avLst/>
          </a:prstGeom>
          <a:noFill/>
        </p:spPr>
        <p:txBody>
          <a:bodyPr wrap="square" lIns="256032" rIns="256032" tIns="73152" bIns="73152" anchor="ctr"/>
          <a:lstStyle/>
          <a:p>
            <a:pPr algn="ctr">
              <a:spcAft>
                <a:spcPts val="200"/>
              </a:spcAft>
            </a:pPr>
            <a:r>
              <a:rPr sz="1500">
                <a:solidFill>
                  <a:srgbClr val="2A323C"/>
                </a:solidFill>
                <a:latin typeface="Aptos"/>
              </a:rPr>
              <a:t>Income reflects purchasing capacity; spending score reflects purchasing behavior.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617720"/>
            <a:ext cx="10058400" cy="960120"/>
          </a:xfrm>
          <a:prstGeom prst="rect">
            <a:avLst/>
          </a:prstGeom>
          <a:noFill/>
        </p:spPr>
        <p:txBody>
          <a:bodyPr wrap="square" lIns="228600" rIns="228600" tIns="73152" bIns="73152" anchor="ctr"/>
          <a:lstStyle/>
          <a:p>
            <a:r>
              <a:rPr sz="1300">
                <a:solidFill>
                  <a:srgbClr val="2A323C"/>
                </a:solidFill>
              </a:rPr>
              <a:t>Income reflects purchasing capacity; spending score reflects purchasing behavior.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E8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r"/>
            <a:r>
              <a:rPr sz="900">
                <a:solidFill>
                  <a:srgbClr val="69737E"/>
                </a:solidFill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663440"/>
            <a:ext cx="100584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300" b="1">
                <a:solidFill>
                  <a:srgbClr val="1A8984"/>
                </a:solidFill>
                <a:latin typeface="Aptos"/>
              </a:rPr>
              <a:t>WHY THESE TWO FEATURES?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37160"/>
            <a:ext cx="11825935" cy="65836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11825935" cy="9144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2800" b="1">
                <a:solidFill>
                  <a:srgbClr val="182230"/>
                </a:solidFill>
                <a:latin typeface="Aptos Display"/>
              </a:rPr>
              <a:t>K-Means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9536"/>
            <a:ext cx="10789920" cy="36576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200">
                <a:solidFill>
                  <a:srgbClr val="69737E"/>
                </a:solidFill>
              </a:rPr>
              <a:t>How the algorithm creates customer groups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114300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4663440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 b="1">
                <a:solidFill>
                  <a:srgbClr val="182230"/>
                </a:solidFill>
              </a:rPr>
              <a:t>WHAT IS K-MEANS?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84248"/>
            <a:ext cx="4663440" cy="338328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400">
                <a:solidFill>
                  <a:srgbClr val="2A323C"/>
                </a:solidFill>
              </a:rPr>
              <a:t>An unsupervised learning algorithm that groups similar data points into clusters.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80360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127248"/>
            <a:ext cx="1499616" cy="32004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ctr"/>
            <a:r>
              <a:rPr sz="1400" b="1">
                <a:solidFill>
                  <a:srgbClr val="182230"/>
                </a:solidFill>
              </a:rPr>
              <a:t>Customers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87752" y="3108960"/>
            <a:ext cx="640080" cy="411480"/>
          </a:xfrm>
          <a:prstGeom prst="rightArrow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360" y="2880360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3512" y="3127248"/>
            <a:ext cx="1499616" cy="32004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ctr"/>
            <a:r>
              <a:rPr sz="1400" b="1">
                <a:solidFill>
                  <a:srgbClr val="182230"/>
                </a:solidFill>
              </a:rPr>
              <a:t>Similarity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599431" y="3108960"/>
            <a:ext cx="640080" cy="411480"/>
          </a:xfrm>
          <a:prstGeom prst="rightArrow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92040" y="2880360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5192" y="3127248"/>
            <a:ext cx="1499616" cy="32004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ctr"/>
            <a:r>
              <a:rPr sz="1400" b="1">
                <a:solidFill>
                  <a:srgbClr val="182230"/>
                </a:solidFill>
              </a:rPr>
              <a:t>3 Clusters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325880"/>
            <a:ext cx="48920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325880"/>
            <a:ext cx="64008" cy="2423160"/>
          </a:xfrm>
          <a:prstGeom prst="rect">
            <a:avLst/>
          </a:prstGeom>
          <a:solidFill>
            <a:srgbClr val="CD9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490472"/>
            <a:ext cx="4480559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 b="1">
                <a:solidFill>
                  <a:srgbClr val="182230"/>
                </a:solidFill>
              </a:rPr>
              <a:t>IN THIS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984248"/>
            <a:ext cx="4480559" cy="1618488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300">
                <a:solidFill>
                  <a:srgbClr val="2A323C"/>
                </a:solidFill>
              </a:rPr>
              <a:t>• Number of clusters = 3
• Input = Annual Income + Spending Score
• Each customer receives a cluster label
• Cluster numbers are interpreted using average characteristics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977639"/>
            <a:ext cx="4892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977639"/>
            <a:ext cx="64008" cy="1234440"/>
          </a:xfrm>
          <a:prstGeom prst="rect">
            <a:avLst/>
          </a:prstGeom>
          <a:solidFill>
            <a:srgbClr val="4B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142231"/>
            <a:ext cx="4480559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 b="1">
                <a:solidFill>
                  <a:srgbClr val="182230"/>
                </a:solidFill>
              </a:rPr>
              <a:t>KEY 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636007"/>
            <a:ext cx="4480559" cy="429768"/>
          </a:xfrm>
          <a:prstGeom prst="rect">
            <a:avLst/>
          </a:prstGeom>
          <a:noFill/>
        </p:spPr>
        <p:txBody>
          <a:bodyPr wrap="square" tIns="54864" bIns="54864"/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A323C"/>
                </a:solidFill>
              </a:rPr>
              <a:t>There is no predefined customer category — the model discovers groups from the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E8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r"/>
            <a:r>
              <a:rPr sz="900">
                <a:solidFill>
                  <a:srgbClr val="69737E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37160"/>
            <a:ext cx="11825935" cy="65836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11825935" cy="9144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2800" b="1">
                <a:solidFill>
                  <a:srgbClr val="182230"/>
                </a:solidFill>
                <a:latin typeface="Aptos Display"/>
              </a:rPr>
              <a:t>The 3 Customer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9536"/>
            <a:ext cx="10789920" cy="36576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200">
                <a:solidFill>
                  <a:srgbClr val="69737E"/>
                </a:solidFill>
              </a:rPr>
              <a:t>The model turns numbers into understandable customer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361188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3017520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 b="1">
                <a:solidFill>
                  <a:srgbClr val="182230"/>
                </a:solidFill>
              </a:rPr>
              <a:t>01  BUDGET-SHOPPERS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3017520" cy="2807208"/>
          </a:xfrm>
          <a:prstGeom prst="rect">
            <a:avLst/>
          </a:prstGeom>
          <a:noFill/>
        </p:spPr>
        <p:txBody>
          <a:bodyPr wrap="square" tIns="54864" bIns="54864"/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A323C"/>
                </a:solidFill>
              </a:rPr>
              <a:t>38 customers
Avg income
87.00 k$
Avg spending score
18.63
High income • Low spending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64008" cy="3611880"/>
          </a:xfrm>
          <a:prstGeom prst="rect">
            <a:avLst/>
          </a:prstGeom>
          <a:solidFill>
            <a:srgbClr val="CD9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81912"/>
            <a:ext cx="3017520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 b="1">
                <a:solidFill>
                  <a:srgbClr val="182230"/>
                </a:solidFill>
              </a:rPr>
              <a:t>02  HIGH-SPENDERS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75688"/>
            <a:ext cx="3017520" cy="2807208"/>
          </a:xfrm>
          <a:prstGeom prst="rect">
            <a:avLst/>
          </a:prstGeom>
          <a:noFill/>
        </p:spPr>
        <p:txBody>
          <a:bodyPr wrap="square" tIns="54864" bIns="54864"/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A323C"/>
                </a:solidFill>
              </a:rPr>
              <a:t>39 customers
Avg income
86.54 k$
Avg spending score
82.13
High income • High spending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64008" cy="3611880"/>
          </a:xfrm>
          <a:prstGeom prst="rect">
            <a:avLst/>
          </a:prstGeom>
          <a:solidFill>
            <a:srgbClr val="4B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81912"/>
            <a:ext cx="3017520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 b="1">
                <a:solidFill>
                  <a:srgbClr val="182230"/>
                </a:solidFill>
              </a:rPr>
              <a:t>03  OCCASIONAL BUYERS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75688"/>
            <a:ext cx="3017520" cy="2807208"/>
          </a:xfrm>
          <a:prstGeom prst="rect">
            <a:avLst/>
          </a:prstGeom>
          <a:noFill/>
        </p:spPr>
        <p:txBody>
          <a:bodyPr wrap="square" tIns="54864" bIns="54864"/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A323C"/>
                </a:solidFill>
              </a:rPr>
              <a:t>123 customers
Avg income
44.15 k$
Avg spending score
49.83
Largest segment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E8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r"/>
            <a:r>
              <a:rPr sz="900">
                <a:solidFill>
                  <a:srgbClr val="69737E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37160"/>
            <a:ext cx="11825935" cy="65836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11825935" cy="9144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2800" b="1">
                <a:solidFill>
                  <a:srgbClr val="182230"/>
                </a:solidFill>
                <a:latin typeface="Aptos Display"/>
              </a:rPr>
              <a:t>The Key Business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9536"/>
            <a:ext cx="10789920" cy="36576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200">
                <a:solidFill>
                  <a:srgbClr val="69737E"/>
                </a:solidFill>
              </a:rPr>
              <a:t>Income alone does not explain spending behavior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0749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64008" cy="416052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90472"/>
            <a:ext cx="4663440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800" b="1">
                <a:solidFill>
                  <a:srgbClr val="182230"/>
                </a:solidFill>
              </a:rPr>
              <a:t>BUDGET-SHOPPERS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84248"/>
            <a:ext cx="4663440" cy="3355848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>
                <a:solidFill>
                  <a:srgbClr val="2A323C"/>
                </a:solidFill>
              </a:rPr>
              <a:t>Average income
87.00 k$
Spending score
18.63
High income, but low spending.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0749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64008" cy="4160520"/>
          </a:xfrm>
          <a:prstGeom prst="rect">
            <a:avLst/>
          </a:prstGeom>
          <a:solidFill>
            <a:srgbClr val="CD9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90472"/>
            <a:ext cx="4663440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800" b="1">
                <a:solidFill>
                  <a:srgbClr val="182230"/>
                </a:solidFill>
              </a:rPr>
              <a:t>HIGH-SPENDERS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84248"/>
            <a:ext cx="4663440" cy="3355848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>
                <a:solidFill>
                  <a:srgbClr val="2A323C"/>
                </a:solidFill>
              </a:rPr>
              <a:t>Average income
86.54 k$
Spending score
82.13
Almost the same income — dramatically higher spending.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623560"/>
            <a:ext cx="8503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5623560"/>
            <a:ext cx="64008" cy="502920"/>
          </a:xfrm>
          <a:prstGeom prst="rect">
            <a:avLst/>
          </a:prstGeom>
          <a:solidFill>
            <a:srgbClr val="4B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5788152"/>
            <a:ext cx="8092440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500" b="1">
                <a:solidFill>
                  <a:srgbClr val="182230"/>
                </a:solidFill>
              </a:rPr>
              <a:t>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650992"/>
            <a:ext cx="8503920" cy="438912"/>
          </a:xfrm>
          <a:prstGeom prst="rect">
            <a:avLst/>
          </a:prstGeom>
          <a:noFill/>
        </p:spPr>
        <p:txBody>
          <a:bodyPr wrap="square" lIns="256032" rIns="256032" tIns="73152" bIns="73152" anchor="ctr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2A323C"/>
                </a:solidFill>
                <a:latin typeface="Aptos"/>
              </a:rPr>
              <a:t>Similar income can still produce very different customer behavior.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E8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r"/>
            <a:r>
              <a:rPr sz="900">
                <a:solidFill>
                  <a:srgbClr val="69737E"/>
                </a:solidFill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285232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B70A6"/>
                </a:solidFill>
                <a:latin typeface="Aptos"/>
              </a:rPr>
              <a:t>KEY INSIGHT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37160"/>
            <a:ext cx="11825935" cy="65836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11825935" cy="9144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2800" b="1">
                <a:solidFill>
                  <a:srgbClr val="182230"/>
                </a:solidFill>
                <a:latin typeface="Aptos Display"/>
              </a:rPr>
              <a:t>How Can the Business Increase Sales?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9536"/>
            <a:ext cx="10789920" cy="36576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200">
                <a:solidFill>
                  <a:srgbClr val="69737E"/>
                </a:solidFill>
              </a:rPr>
              <a:t>Different segment → different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6576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64008" cy="4251960"/>
          </a:xfrm>
          <a:prstGeom prst="rect">
            <a:avLst/>
          </a:prstGeom>
          <a:solidFill>
            <a:srgbClr val="CD9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36192"/>
            <a:ext cx="3246120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 b="1">
                <a:solidFill>
                  <a:srgbClr val="182230"/>
                </a:solidFill>
              </a:rPr>
              <a:t>HIGH-SPENDERS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29967"/>
            <a:ext cx="3246120" cy="3447288"/>
          </a:xfrm>
          <a:prstGeom prst="rect">
            <a:avLst/>
          </a:prstGeom>
          <a:noFill/>
        </p:spPr>
        <p:txBody>
          <a:bodyPr wrap="square" tIns="54864" bIns="54864"/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A323C"/>
                </a:solidFill>
              </a:rPr>
              <a:t>RETAIN + GROW VALUE
• VIP / loyalty rewards
• Premium products
• Personalized recommendations
• Early access to new products
Goal: Increase customer lifetime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71600"/>
            <a:ext cx="36576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371600"/>
            <a:ext cx="64008" cy="425196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536192"/>
            <a:ext cx="3246120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 b="1">
                <a:solidFill>
                  <a:srgbClr val="182230"/>
                </a:solidFill>
              </a:rPr>
              <a:t>BUDGET-SHOPPERS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029967"/>
            <a:ext cx="3246120" cy="3447288"/>
          </a:xfrm>
          <a:prstGeom prst="rect">
            <a:avLst/>
          </a:prstGeom>
          <a:noFill/>
        </p:spPr>
        <p:txBody>
          <a:bodyPr wrap="square" tIns="54864" bIns="54864"/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A323C"/>
                </a:solidFill>
              </a:rPr>
              <a:t>CONVERT TO ACTIVE BUYERS
• Targeted offers
• Product bundles
• Limited-time promotions
• Personalized recommendations
Goal: Increase spending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371600"/>
            <a:ext cx="3246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371600"/>
            <a:ext cx="64008" cy="4251960"/>
          </a:xfrm>
          <a:prstGeom prst="rect">
            <a:avLst/>
          </a:prstGeom>
          <a:solidFill>
            <a:srgbClr val="4B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536192"/>
            <a:ext cx="2834639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 b="1">
                <a:solidFill>
                  <a:srgbClr val="182230"/>
                </a:solidFill>
              </a:rPr>
              <a:t>OCCASIONAL BUYERS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029967"/>
            <a:ext cx="2834639" cy="3447288"/>
          </a:xfrm>
          <a:prstGeom prst="rect">
            <a:avLst/>
          </a:prstGeom>
          <a:noFill/>
        </p:spPr>
        <p:txBody>
          <a:bodyPr wrap="square" tIns="54864" bIns="54864"/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A323C"/>
                </a:solidFill>
              </a:rPr>
              <a:t>INCREASE FREQUENCY
• Loyalty points
• Seasonal campaigns
• Repeat-purchase offers
• Cross-selling
Goal: Create regular buyers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E8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r"/>
            <a:r>
              <a:rPr sz="900">
                <a:solidFill>
                  <a:srgbClr val="69737E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37160"/>
            <a:ext cx="11825935" cy="65836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11825935" cy="9144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2800" b="1">
                <a:solidFill>
                  <a:srgbClr val="182230"/>
                </a:solidFill>
                <a:latin typeface="Aptos Display"/>
              </a:rPr>
              <a:t>Where I Would Focus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9536"/>
            <a:ext cx="10789920" cy="36576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200">
                <a:solidFill>
                  <a:srgbClr val="69737E"/>
                </a:solidFill>
              </a:rPr>
              <a:t>Prioritizing the largest sales opportunity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2240280" cy="5029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ctr"/>
            <a:r>
              <a:rPr sz="2800" b="1">
                <a:solidFill>
                  <a:srgbClr val="4B70A6"/>
                </a:solidFill>
              </a:rPr>
              <a:t>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84832"/>
            <a:ext cx="2240280" cy="2743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ctr"/>
            <a:r>
              <a:rPr sz="1100">
                <a:solidFill>
                  <a:srgbClr val="69737E"/>
                </a:solidFill>
              </a:rPr>
              <a:t>Occasional buyers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325880"/>
            <a:ext cx="7223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325880"/>
            <a:ext cx="64008" cy="1417320"/>
          </a:xfrm>
          <a:prstGeom prst="rect">
            <a:avLst/>
          </a:prstGeom>
          <a:solidFill>
            <a:srgbClr val="4B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490472"/>
            <a:ext cx="6812280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800" b="1">
                <a:solidFill>
                  <a:srgbClr val="182230"/>
                </a:solidFill>
              </a:rPr>
              <a:t>PRIORITY 1 — OCCASIONAL BUYERS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984248"/>
            <a:ext cx="6812280" cy="612648"/>
          </a:xfrm>
          <a:prstGeom prst="rect">
            <a:avLst/>
          </a:prstGeom>
          <a:noFill/>
        </p:spPr>
        <p:txBody>
          <a:bodyPr wrap="square" tIns="54864" bIns="54864"/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A323C"/>
                </a:solidFill>
              </a:rPr>
              <a:t>They are the largest segment. Increasing purchase frequency across this group can create a meaningful sales opportunity.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46120"/>
            <a:ext cx="4800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246120"/>
            <a:ext cx="64008" cy="192024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410712"/>
            <a:ext cx="4389120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 b="1">
                <a:solidFill>
                  <a:srgbClr val="182230"/>
                </a:solidFill>
              </a:rPr>
              <a:t>PRIORITY 2 — BUDGET-SHOPPERS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904487"/>
            <a:ext cx="4389120" cy="1115568"/>
          </a:xfrm>
          <a:prstGeom prst="rect">
            <a:avLst/>
          </a:prstGeom>
          <a:noFill/>
        </p:spPr>
        <p:txBody>
          <a:bodyPr wrap="square" tIns="54864" bIns="54864"/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A323C"/>
                </a:solidFill>
              </a:rPr>
              <a:t>High average income but low spending. Targeted offers can test what motivates them to buy more.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246120"/>
            <a:ext cx="4800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3246120"/>
            <a:ext cx="64008" cy="1920240"/>
          </a:xfrm>
          <a:prstGeom prst="rect">
            <a:avLst/>
          </a:prstGeom>
          <a:solidFill>
            <a:srgbClr val="CD9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410712"/>
            <a:ext cx="4389120" cy="4114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700" b="1">
                <a:solidFill>
                  <a:srgbClr val="182230"/>
                </a:solidFill>
              </a:rPr>
              <a:t>PRIORITY 3 — HIGH-SPENDERS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904487"/>
            <a:ext cx="4389120" cy="1115568"/>
          </a:xfrm>
          <a:prstGeom prst="rect">
            <a:avLst/>
          </a:prstGeom>
          <a:noFill/>
        </p:spPr>
        <p:txBody>
          <a:bodyPr wrap="square" tIns="54864" bIns="54864"/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A323C"/>
                </a:solidFill>
              </a:rPr>
              <a:t>Protect and deepen the relationship through premium experiences rather than relying on discounts.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E8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r"/>
            <a:r>
              <a:rPr sz="900">
                <a:solidFill>
                  <a:srgbClr val="69737E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37160"/>
            <a:ext cx="11825935" cy="65836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11825935" cy="9144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2800" b="1">
                <a:solidFill>
                  <a:srgbClr val="182230"/>
                </a:solidFill>
                <a:latin typeface="Aptos Display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9536"/>
            <a:ext cx="10789920" cy="36576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r>
              <a:rPr sz="1200">
                <a:solidFill>
                  <a:srgbClr val="69737E"/>
                </a:solidFill>
              </a:rPr>
              <a:t>From clustering to business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356616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>
              <a:spcAft>
                <a:spcPts val="1000"/>
              </a:spcAft>
              <a:defRPr sz="1800">
                <a:solidFill>
                  <a:srgbClr val="2A323C"/>
                </a:solidFill>
              </a:defRPr>
            </a:pPr>
            <a:r>
              <a:rPr/>
              <a:t>• K-Means grouped 200 customers into 3 meaningful segments.</a:t>
            </a:r>
          </a:p>
          <a:p>
            <a:pPr>
              <a:spcAft>
                <a:spcPts val="1000"/>
              </a:spcAft>
              <a:defRPr sz="1800">
                <a:solidFill>
                  <a:srgbClr val="2A323C"/>
                </a:solidFill>
              </a:defRPr>
            </a:pPr>
            <a:r>
              <a:rPr/>
              <a:t>• Annual Income and Spending Score revealed distinct behavior patterns.</a:t>
            </a:r>
          </a:p>
          <a:p>
            <a:pPr>
              <a:spcAft>
                <a:spcPts val="1000"/>
              </a:spcAft>
              <a:defRPr sz="1800">
                <a:solidFill>
                  <a:srgbClr val="2A323C"/>
                </a:solidFill>
              </a:defRPr>
            </a:pPr>
            <a:r>
              <a:rPr/>
              <a:t>• Occasional buyers are the largest segment with 123 customers.</a:t>
            </a:r>
          </a:p>
          <a:p>
            <a:pPr>
              <a:spcAft>
                <a:spcPts val="1000"/>
              </a:spcAft>
              <a:defRPr sz="1800">
                <a:solidFill>
                  <a:srgbClr val="2A323C"/>
                </a:solidFill>
              </a:defRPr>
            </a:pPr>
            <a:r>
              <a:rPr/>
              <a:t>• Budget-shoppers and High-spenders have similar income but very different spending behavior.</a:t>
            </a:r>
          </a:p>
          <a:p>
            <a:pPr>
              <a:spcAft>
                <a:spcPts val="1000"/>
              </a:spcAft>
              <a:defRPr sz="1800">
                <a:solidFill>
                  <a:srgbClr val="2A323C"/>
                </a:solidFill>
              </a:defRPr>
            </a:pPr>
            <a:r>
              <a:rPr/>
              <a:t>• Segment-specific marketing can help improve engagement, retention and sales.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166360"/>
            <a:ext cx="10149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8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5166360"/>
            <a:ext cx="64008" cy="777240"/>
          </a:xfrm>
          <a:prstGeom prst="rect">
            <a:avLst/>
          </a:prstGeom>
          <a:solidFill>
            <a:srgbClr val="1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02352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>
                <a:solidFill>
                  <a:srgbClr val="1A8984"/>
                </a:solidFill>
                <a:latin typeface="Aptos"/>
              </a:rPr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68112"/>
            <a:ext cx="10149840" cy="658368"/>
          </a:xfrm>
          <a:prstGeom prst="rect">
            <a:avLst/>
          </a:prstGeom>
          <a:noFill/>
        </p:spPr>
        <p:txBody>
          <a:bodyPr wrap="square" tIns="73152" bIns="73152" anchor="ctr" lIns="256032" rIns="256032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2A323C"/>
                </a:solidFill>
                <a:latin typeface="Aptos"/>
              </a:rPr>
              <a:t>The value of this project is not only finding clusters — it is turning those clusters into better business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E8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 lIns="109728" rIns="109728" tIns="73152" bIns="73152"/>
          <a:lstStyle/>
          <a:p>
            <a:pPr algn="r"/>
            <a:r>
              <a:rPr sz="900">
                <a:solidFill>
                  <a:srgbClr val="69737E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